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B613E-9484-44A0-E3A8-58511FAF2177}" v="155" dt="2026-06-09T00:40:17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18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94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12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54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066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716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164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9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40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00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67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818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935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341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763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1660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166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1058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Proyecto de Digitalización y Gestión de Ventas: </a:t>
            </a:r>
            <a:r>
              <a:rPr lang="es-E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Olivia’s</a:t>
            </a:r>
            <a:r>
              <a:rPr lang="es-E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 Panadería.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Portafolio de Título - Fase Final</a:t>
            </a:r>
          </a:p>
          <a:p>
            <a:r>
              <a:rPr lang="es-E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Nombre: Felipe </a:t>
            </a:r>
            <a:r>
              <a:rPr lang="es-E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Rodriguez</a:t>
            </a:r>
            <a:r>
              <a:rPr lang="es-E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es-E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Hernandez</a:t>
            </a:r>
          </a:p>
          <a:p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Carrera: Analista Programador</a:t>
            </a:r>
          </a:p>
          <a:p>
            <a:r>
              <a:rPr lang="es-E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Sede: </a:t>
            </a:r>
            <a:r>
              <a:rPr lang="es-E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DuocUC</a:t>
            </a:r>
            <a:r>
              <a:rPr lang="es-E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San Joaquin</a:t>
            </a:r>
          </a:p>
          <a:p>
            <a:endParaRPr lang="es-E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endParaRPr lang="es-E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9F46F-1409-475D-454A-B94F2E3BF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El Desafío Laboral.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03F9C9-236C-8293-EBDE-858E6728A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Puntos clave:</a:t>
            </a:r>
            <a:endParaRPr lang="es-ES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es-E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Negocio: </a:t>
            </a:r>
            <a:r>
              <a:rPr lang="es-E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Olivia’s</a:t>
            </a:r>
            <a:r>
              <a:rPr lang="es-E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Panadería (artesanal y celíacos).</a:t>
            </a:r>
            <a:endParaRPr lang="es-ES" dirty="0"/>
          </a:p>
          <a:p>
            <a:pPr>
              <a:buClr>
                <a:srgbClr val="FFFFFF"/>
              </a:buClr>
            </a:pP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Problema: Gestión manual de pedidos, falta de catálogo online y pérdida de ventas por falta de canal digital.</a:t>
            </a:r>
            <a:endParaRPr lang="es-ES"/>
          </a:p>
          <a:p>
            <a:pPr>
              <a:buClr>
                <a:srgbClr val="FFFFFF"/>
              </a:buClr>
            </a:pP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Afectados: Dueña (operación) y Clientes (experiencia de compra).</a:t>
            </a:r>
            <a:endParaRPr lang="es-ES"/>
          </a:p>
          <a:p>
            <a:pPr>
              <a:buClr>
                <a:srgbClr val="FFFFFF"/>
              </a:buClr>
            </a:pPr>
            <a:endParaRPr lang="es-E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027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64722-BDC1-6149-352C-0714E40D9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¿Qué nos </a:t>
            </a: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j-lt"/>
                <a:cs typeface="+mj-lt"/>
              </a:rPr>
              <a:t>propusimos</a:t>
            </a: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 lograr?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2A1748-F1ED-814E-DB24-E2D3BD5F9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Objetivo General:</a:t>
            </a: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Desarrollar un sistema web a medida para automatizar las ventas.</a:t>
            </a:r>
            <a:endParaRPr lang="es-ES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es-ES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Objetivos Específicos:</a:t>
            </a:r>
            <a:endParaRPr lang="es-ES"/>
          </a:p>
          <a:p>
            <a:pPr>
              <a:buClr>
                <a:srgbClr val="FFFFFF"/>
              </a:buClr>
            </a:pP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Base de datos relacional para control de inventario.</a:t>
            </a:r>
            <a:endParaRPr lang="es-ES"/>
          </a:p>
          <a:p>
            <a:pPr>
              <a:buClr>
                <a:srgbClr val="FFFFFF"/>
              </a:buClr>
            </a:pP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Carrito de compras dinámico y persistente.</a:t>
            </a:r>
            <a:endParaRPr lang="es-ES"/>
          </a:p>
          <a:p>
            <a:pPr>
              <a:buClr>
                <a:srgbClr val="FFFFFF"/>
              </a:buClr>
            </a:pP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Integración de pagos seguros.</a:t>
            </a:r>
            <a:endParaRPr lang="es-ES"/>
          </a:p>
          <a:p>
            <a:pPr>
              <a:buClr>
                <a:srgbClr val="FFFFFF"/>
              </a:buClr>
            </a:pPr>
            <a:endParaRPr lang="es-E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973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F8307-8E52-565D-65B6-56414F377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Arquitectura Técnica.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1FF563-7F67-FF77-177E-01EF06292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Contenido:</a:t>
            </a:r>
            <a:endParaRPr lang="es-ES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es-ES" b="1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Frontend</a:t>
            </a:r>
            <a:r>
              <a:rPr lang="es-ES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:</a:t>
            </a:r>
            <a:r>
              <a:rPr lang="es-E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HTML5, CSS3 y JavaScript (Lógica de carrito).</a:t>
            </a:r>
            <a:endParaRPr lang="es-ES" dirty="0"/>
          </a:p>
          <a:p>
            <a:pPr>
              <a:buClr>
                <a:srgbClr val="FFFFFF"/>
              </a:buClr>
            </a:pPr>
            <a:r>
              <a:rPr lang="es-ES" b="1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Backend</a:t>
            </a:r>
            <a:r>
              <a:rPr lang="es-ES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:</a:t>
            </a:r>
            <a:r>
              <a:rPr lang="es-E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PHP 8.x (Lógica de negocio).</a:t>
            </a:r>
            <a:endParaRPr lang="es-ES" dirty="0"/>
          </a:p>
          <a:p>
            <a:pPr>
              <a:buClr>
                <a:srgbClr val="FFFFFF"/>
              </a:buClr>
            </a:pPr>
            <a:r>
              <a:rPr lang="es-ES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Base de Datos:</a:t>
            </a: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MySQL (Gestión de datos).</a:t>
            </a:r>
            <a:endParaRPr lang="es-ES"/>
          </a:p>
          <a:p>
            <a:pPr>
              <a:buClr>
                <a:srgbClr val="FFFFFF"/>
              </a:buClr>
            </a:pPr>
            <a:r>
              <a:rPr lang="es-ES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Por qué desarrollo a medida:</a:t>
            </a: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Autonomía, rendimiento y seguridad (sin dependencia de CMS como WordPress).</a:t>
            </a:r>
            <a:endParaRPr lang="es-ES"/>
          </a:p>
          <a:p>
            <a:pPr>
              <a:buClr>
                <a:srgbClr val="FFFFFF"/>
              </a:buClr>
            </a:pPr>
            <a:endParaRPr lang="es-E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1229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C87CE-AC1D-8202-64FA-6415BA0D3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es-ES" sz="2800"/>
              <a:t>Estructura de Información.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165500-7610-3D6C-5CA0-004C01EBA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r>
              <a:rPr lang="en-US" sz="1800" b="1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Explicación</a:t>
            </a:r>
            <a:r>
              <a:rPr lang="en-US" sz="18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breve: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"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Diseñé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una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base de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datos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normalizada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para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asegurar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que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la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información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de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usuarios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,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productos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y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pedidos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sea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íntegra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y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rápida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de </a:t>
            </a:r>
            <a:r>
              <a:rPr lang="en-US" sz="1800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consultar</a:t>
            </a:r>
            <a:r>
              <a:rPr lang="en-US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".</a:t>
            </a:r>
            <a:endParaRPr lang="en-US" sz="1800" dirty="0"/>
          </a:p>
        </p:txBody>
      </p:sp>
      <p:pic>
        <p:nvPicPr>
          <p:cNvPr id="4" name="Marcador de contenido 3" descr="Diagrama&#10;&#10;El contenido generado por IA puede ser incorrecto.">
            <a:extLst>
              <a:ext uri="{FF2B5EF4-FFF2-40B4-BE49-F238E27FC236}">
                <a16:creationId xmlns:a16="http://schemas.microsoft.com/office/drawing/2014/main" id="{40837C74-58CE-FA21-1EE1-4A24178EF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94" y="1539821"/>
            <a:ext cx="6916633" cy="3458316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182004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34653-9CF3-8710-031C-76C86615F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09599"/>
            <a:ext cx="5435760" cy="2009775"/>
          </a:xfrm>
        </p:spPr>
        <p:txBody>
          <a:bodyPr>
            <a:normAutofit/>
          </a:bodyPr>
          <a:lstStyle/>
          <a:p>
            <a:pPr algn="ctr"/>
            <a:r>
              <a:rPr lang="es-ES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Interfaz de Usuario y Catálogo.</a:t>
            </a:r>
            <a:endParaRPr lang="es-ES"/>
          </a:p>
        </p:txBody>
      </p:sp>
      <p:pic>
        <p:nvPicPr>
          <p:cNvPr id="4" name="Marcador de contenido 3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97FD99BC-AF49-5683-3882-F9E24E58FF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92" r="19239" b="1"/>
          <a:stretch>
            <a:fillRect/>
          </a:stretch>
        </p:blipFill>
        <p:spPr>
          <a:xfrm>
            <a:off x="1734698" y="609600"/>
            <a:ext cx="2711678" cy="2057399"/>
          </a:xfrm>
          <a:custGeom>
            <a:avLst/>
            <a:gdLst/>
            <a:ahLst/>
            <a:cxnLst/>
            <a:rect l="l" t="t" r="r" b="b"/>
            <a:pathLst>
              <a:path w="3416888" h="2057399">
                <a:moveTo>
                  <a:pt x="120172" y="0"/>
                </a:moveTo>
                <a:lnTo>
                  <a:pt x="3296716" y="0"/>
                </a:lnTo>
                <a:cubicBezTo>
                  <a:pt x="3363085" y="0"/>
                  <a:pt x="3416888" y="53803"/>
                  <a:pt x="3416888" y="120172"/>
                </a:cubicBezTo>
                <a:lnTo>
                  <a:pt x="3416888" y="2057399"/>
                </a:lnTo>
                <a:lnTo>
                  <a:pt x="0" y="2057399"/>
                </a:lnTo>
                <a:lnTo>
                  <a:pt x="0" y="120172"/>
                </a:lnTo>
                <a:cubicBezTo>
                  <a:pt x="0" y="53803"/>
                  <a:pt x="53803" y="0"/>
                  <a:pt x="120172" y="0"/>
                </a:cubicBezTo>
                <a:close/>
              </a:path>
            </a:pathLst>
          </a:cu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5" name="Marcador de contenido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895AE78A-B63C-07E8-E482-D43512032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39" y="2947481"/>
            <a:ext cx="4765597" cy="2180260"/>
          </a:xfrm>
          <a:custGeom>
            <a:avLst/>
            <a:gdLst/>
            <a:ahLst/>
            <a:cxnLst/>
            <a:rect l="l" t="t" r="r" b="b"/>
            <a:pathLst>
              <a:path w="3416888" h="3240120">
                <a:moveTo>
                  <a:pt x="0" y="0"/>
                </a:moveTo>
                <a:lnTo>
                  <a:pt x="3416888" y="0"/>
                </a:lnTo>
                <a:lnTo>
                  <a:pt x="3416888" y="3119948"/>
                </a:lnTo>
                <a:cubicBezTo>
                  <a:pt x="3416888" y="3186317"/>
                  <a:pt x="3363085" y="3240120"/>
                  <a:pt x="3296716" y="3240120"/>
                </a:cubicBezTo>
                <a:lnTo>
                  <a:pt x="120172" y="3240120"/>
                </a:lnTo>
                <a:cubicBezTo>
                  <a:pt x="53803" y="3240120"/>
                  <a:pt x="0" y="3186317"/>
                  <a:pt x="0" y="3119948"/>
                </a:cubicBezTo>
                <a:close/>
              </a:path>
            </a:pathLst>
          </a:cu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523E724-5F10-8D38-D8F1-F0120AFFB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774425"/>
            <a:ext cx="5435760" cy="3288445"/>
          </a:xfrm>
        </p:spPr>
        <p:txBody>
          <a:bodyPr>
            <a:normAutofit/>
          </a:bodyPr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"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Creamos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una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interfaz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limpia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y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responsiva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,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facilitando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que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el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cliente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encuentre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productos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específicos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para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celíacos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rápidamente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.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499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F6FF3A-3B4E-C448-A846-6AFFF3415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09599"/>
            <a:ext cx="5435760" cy="2009775"/>
          </a:xfrm>
        </p:spPr>
        <p:txBody>
          <a:bodyPr>
            <a:normAutofit/>
          </a:bodyPr>
          <a:lstStyle/>
          <a:p>
            <a:pPr algn="ctr"/>
            <a:r>
              <a:rPr lang="es-ES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Gestión de Compra y Pago.</a:t>
            </a:r>
            <a:endParaRPr lang="es-ES"/>
          </a:p>
        </p:txBody>
      </p:sp>
      <p:pic>
        <p:nvPicPr>
          <p:cNvPr id="5" name="Marcador de contenido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5358DB3-9A14-0B75-807A-FF03BD119B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01" r="23311" b="2"/>
          <a:stretch>
            <a:fillRect/>
          </a:stretch>
        </p:blipFill>
        <p:spPr>
          <a:xfrm>
            <a:off x="707739" y="2717975"/>
            <a:ext cx="4765597" cy="3240120"/>
          </a:xfrm>
          <a:custGeom>
            <a:avLst/>
            <a:gdLst/>
            <a:ahLst/>
            <a:cxnLst/>
            <a:rect l="l" t="t" r="r" b="b"/>
            <a:pathLst>
              <a:path w="3416888" h="3240120">
                <a:moveTo>
                  <a:pt x="0" y="0"/>
                </a:moveTo>
                <a:lnTo>
                  <a:pt x="3416888" y="0"/>
                </a:lnTo>
                <a:lnTo>
                  <a:pt x="3416888" y="3119948"/>
                </a:lnTo>
                <a:cubicBezTo>
                  <a:pt x="3416888" y="3186317"/>
                  <a:pt x="3363085" y="3240120"/>
                  <a:pt x="3296716" y="3240120"/>
                </a:cubicBezTo>
                <a:lnTo>
                  <a:pt x="120172" y="3240120"/>
                </a:lnTo>
                <a:cubicBezTo>
                  <a:pt x="53803" y="3240120"/>
                  <a:pt x="0" y="3186317"/>
                  <a:pt x="0" y="3119948"/>
                </a:cubicBezTo>
                <a:close/>
              </a:path>
            </a:pathLst>
          </a:cu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4" name="Marcador de contenido 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B0E366A2-4EFD-2C90-60CC-9BB13A9BC7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635"/>
          <a:stretch>
            <a:fillRect/>
          </a:stretch>
        </p:blipFill>
        <p:spPr>
          <a:xfrm>
            <a:off x="707739" y="609600"/>
            <a:ext cx="4765597" cy="2057399"/>
          </a:xfrm>
          <a:custGeom>
            <a:avLst/>
            <a:gdLst/>
            <a:ahLst/>
            <a:cxnLst/>
            <a:rect l="l" t="t" r="r" b="b"/>
            <a:pathLst>
              <a:path w="3416888" h="2057399">
                <a:moveTo>
                  <a:pt x="120172" y="0"/>
                </a:moveTo>
                <a:lnTo>
                  <a:pt x="3296716" y="0"/>
                </a:lnTo>
                <a:cubicBezTo>
                  <a:pt x="3363085" y="0"/>
                  <a:pt x="3416888" y="53803"/>
                  <a:pt x="3416888" y="120172"/>
                </a:cubicBezTo>
                <a:lnTo>
                  <a:pt x="3416888" y="2057399"/>
                </a:lnTo>
                <a:lnTo>
                  <a:pt x="0" y="2057399"/>
                </a:lnTo>
                <a:lnTo>
                  <a:pt x="0" y="120172"/>
                </a:lnTo>
                <a:cubicBezTo>
                  <a:pt x="0" y="53803"/>
                  <a:pt x="53803" y="0"/>
                  <a:pt x="120172" y="0"/>
                </a:cubicBezTo>
                <a:close/>
              </a:path>
            </a:pathLst>
          </a:cu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8B1FA0F-1A27-D3A3-6A31-A4BB94638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774425"/>
            <a:ext cx="5435760" cy="3288445"/>
          </a:xfrm>
        </p:spPr>
        <p:txBody>
          <a:bodyPr>
            <a:normAutofit/>
          </a:bodyPr>
          <a:lstStyle/>
          <a:p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El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carrito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funciona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en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el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lado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del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cliente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para mayor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velocidad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y se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sincroniza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con el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servidor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PHP para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finalizar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la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venta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de forma </a:t>
            </a:r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segura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191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223B3-1A2E-3EB9-B45F-01EC42C2B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Evolución del Proyecto.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8D02E1-16A2-D891-8273-8B323863A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Contenido:</a:t>
            </a:r>
            <a:endParaRPr lang="es-ES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es-ES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El gran ajuste:</a:t>
            </a: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Transición de CMS (WordPress) a Desarrollo Nativo (PHP).</a:t>
            </a:r>
            <a:endParaRPr lang="es-ES"/>
          </a:p>
          <a:p>
            <a:pPr>
              <a:buClr>
                <a:srgbClr val="FFFFFF"/>
              </a:buClr>
            </a:pPr>
            <a:r>
              <a:rPr lang="es-ES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Dificultad:</a:t>
            </a: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Sincronización asíncrona de datos en el checkout.</a:t>
            </a:r>
            <a:endParaRPr lang="es-ES"/>
          </a:p>
          <a:p>
            <a:pPr>
              <a:buClr>
                <a:srgbClr val="FFFFFF"/>
              </a:buClr>
            </a:pPr>
            <a:r>
              <a:rPr lang="es-ES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Solución:</a:t>
            </a: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Uso de </a:t>
            </a: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Consolas"/>
              </a:rPr>
              <a:t>localStorage</a:t>
            </a: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y validación robusta en el servidor.</a:t>
            </a:r>
            <a:endParaRPr lang="es-ES"/>
          </a:p>
          <a:p>
            <a:pPr>
              <a:buClr>
                <a:srgbClr val="FFFFFF"/>
              </a:buClr>
            </a:pPr>
            <a:endParaRPr lang="es-E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72006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77DB4-5078-DAA1-3FD1-D7DA7881C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Valor Agregado.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70A61E-AA98-0D2A-35F0-17BE88774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Puntos clave:</a:t>
            </a:r>
            <a:endParaRPr lang="es-ES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es-ES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Autonomía:</a:t>
            </a: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El negocio no depende de suscripciones o terceros.</a:t>
            </a:r>
            <a:endParaRPr lang="es-ES"/>
          </a:p>
          <a:p>
            <a:pPr>
              <a:buClr>
                <a:srgbClr val="FFFFFF"/>
              </a:buClr>
            </a:pPr>
            <a:r>
              <a:rPr lang="es-ES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Eficiencia:</a:t>
            </a: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Reducción del tiempo de gestión de pedidos en un 60% (estimado).</a:t>
            </a:r>
            <a:endParaRPr lang="es-ES"/>
          </a:p>
          <a:p>
            <a:pPr>
              <a:buClr>
                <a:srgbClr val="FFFFFF"/>
              </a:buClr>
            </a:pPr>
            <a:r>
              <a:rPr lang="es-ES" b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Escalabilidad:</a:t>
            </a: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El código permite añadir nuevas funciones en el futuro fácilmente.</a:t>
            </a:r>
            <a:endParaRPr lang="es-ES"/>
          </a:p>
          <a:p>
            <a:pPr>
              <a:buClr>
                <a:srgbClr val="FFFFFF"/>
              </a:buClr>
            </a:pPr>
            <a:endParaRPr lang="es-E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11726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767CD-D700-C995-4E8B-D1C89F916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Reflexión Profesional.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22EB57-AAB1-3322-547D-9DE543C48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Confirmación de interés en el desarrollo de arquitectura de software.</a:t>
            </a:r>
            <a:endParaRPr lang="es-ES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Especialización en Ciberseguridad y Cloud Computing.</a:t>
            </a:r>
            <a:endParaRPr lang="es-ES"/>
          </a:p>
          <a:p>
            <a:pPr>
              <a:buClr>
                <a:srgbClr val="FFFFFF"/>
              </a:buClr>
            </a:pPr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Cierre: "Este proyecto convirtió una idea en una solución tecnológica real".</a:t>
            </a:r>
            <a:endParaRPr lang="es-ES"/>
          </a:p>
          <a:p>
            <a:pPr>
              <a:buClr>
                <a:srgbClr val="FFFFFF"/>
              </a:buClr>
            </a:pPr>
            <a:endParaRPr lang="es-E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8431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F6EF0-4C9D-CCA9-746A-49ED61103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¿Dudas o comentarios?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25ABDD-47F7-AAF0-0B2C-C78F5814E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62957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Mesh</vt:lpstr>
      <vt:lpstr>Proyecto de Digitalización y Gestión de Ventas: Olivia’s Panadería.</vt:lpstr>
      <vt:lpstr>El Desafío Laboral.</vt:lpstr>
      <vt:lpstr>¿Qué nos propusimos lograr?</vt:lpstr>
      <vt:lpstr>Arquitectura Técnica.</vt:lpstr>
      <vt:lpstr>Estructura de Información.</vt:lpstr>
      <vt:lpstr>Interfaz de Usuario y Catálogo.</vt:lpstr>
      <vt:lpstr>Gestión de Compra y Pago.</vt:lpstr>
      <vt:lpstr>Evolución del Proyecto.</vt:lpstr>
      <vt:lpstr>Valor Agregado.</vt:lpstr>
      <vt:lpstr>Reflexión Profesional.</vt:lpstr>
      <vt:lpstr>¿Dudas o comentarios?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59</cp:revision>
  <dcterms:created xsi:type="dcterms:W3CDTF">2026-06-09T00:29:53Z</dcterms:created>
  <dcterms:modified xsi:type="dcterms:W3CDTF">2026-06-09T00:40:26Z</dcterms:modified>
</cp:coreProperties>
</file>